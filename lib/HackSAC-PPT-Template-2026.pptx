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Roboto 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1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5622153" y="2214606"/>
            <a:ext cx="7043694" cy="7043694"/>
          </a:xfrm>
          <a:custGeom>
            <a:avLst/>
            <a:gdLst/>
            <a:ahLst/>
            <a:cxnLst/>
            <a:rect l="l" t="t" r="r" b="b"/>
            <a:pathLst>
              <a:path w="7043694" h="7043694">
                <a:moveTo>
                  <a:pt x="0" y="0"/>
                </a:moveTo>
                <a:lnTo>
                  <a:pt x="7043694" y="0"/>
                </a:lnTo>
                <a:lnTo>
                  <a:pt x="7043694" y="7043694"/>
                </a:lnTo>
                <a:lnTo>
                  <a:pt x="0" y="70436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05000" y="3954462"/>
            <a:ext cx="14213577" cy="4407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Team Name : </a:t>
            </a:r>
          </a:p>
          <a:p>
            <a:pPr algn="l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Problem Statement ID :</a:t>
            </a:r>
          </a:p>
          <a:p>
            <a:pPr algn="l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Problem Statement Title :</a:t>
            </a:r>
          </a:p>
          <a:p>
            <a:pPr algn="l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Solution Title : </a:t>
            </a:r>
          </a:p>
          <a:p>
            <a:pPr algn="l">
              <a:lnSpc>
                <a:spcPts val="7000"/>
              </a:lnSpc>
              <a:spcBef>
                <a:spcPct val="0"/>
              </a:spcBef>
            </a:pPr>
            <a:endParaRPr lang="en-US" sz="5000" b="1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2" name="Freeform 2"/>
          <p:cNvSpPr/>
          <p:nvPr/>
        </p:nvSpPr>
        <p:spPr>
          <a:xfrm>
            <a:off x="16686472" y="186813"/>
            <a:ext cx="1385812" cy="1385812"/>
          </a:xfrm>
          <a:custGeom>
            <a:avLst/>
            <a:gdLst/>
            <a:ahLst/>
            <a:cxnLst/>
            <a:rect l="l" t="t" r="r" b="b"/>
            <a:pathLst>
              <a:path w="1385812" h="1385812">
                <a:moveTo>
                  <a:pt x="0" y="0"/>
                </a:moveTo>
                <a:lnTo>
                  <a:pt x="1385812" y="0"/>
                </a:lnTo>
                <a:lnTo>
                  <a:pt x="1385812" y="1385813"/>
                </a:lnTo>
                <a:lnTo>
                  <a:pt x="0" y="1385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15716" y="101608"/>
            <a:ext cx="3378568" cy="1563595"/>
          </a:xfrm>
          <a:custGeom>
            <a:avLst/>
            <a:gdLst/>
            <a:ahLst/>
            <a:cxnLst/>
            <a:rect l="l" t="t" r="r" b="b"/>
            <a:pathLst>
              <a:path w="3378568" h="1563595">
                <a:moveTo>
                  <a:pt x="0" y="0"/>
                </a:moveTo>
                <a:lnTo>
                  <a:pt x="3378568" y="0"/>
                </a:lnTo>
                <a:lnTo>
                  <a:pt x="3378568" y="1563595"/>
                </a:lnTo>
                <a:lnTo>
                  <a:pt x="0" y="15635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865" b="-2297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257800" y="190500"/>
            <a:ext cx="8685464" cy="1470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 b="1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HackSAC</a:t>
            </a:r>
            <a:r>
              <a:rPr lang="en-US" sz="8500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45225" y="2201087"/>
            <a:ext cx="5597547" cy="1212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  <a:spcBef>
                <a:spcPct val="0"/>
              </a:spcBef>
            </a:pPr>
            <a:r>
              <a:rPr lang="en-US" sz="7000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Title Page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25BF71E-3BD2-B7F8-1850-3C043DF659D1}"/>
              </a:ext>
            </a:extLst>
          </p:cNvPr>
          <p:cNvGrpSpPr/>
          <p:nvPr/>
        </p:nvGrpSpPr>
        <p:grpSpPr>
          <a:xfrm>
            <a:off x="0" y="9639300"/>
            <a:ext cx="18288000" cy="647700"/>
            <a:chOff x="0" y="9639300"/>
            <a:chExt cx="18288000" cy="6477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DAB2F22-0001-CC1A-FA58-4BBB5B3EDF59}"/>
                </a:ext>
              </a:extLst>
            </p:cNvPr>
            <p:cNvSpPr/>
            <p:nvPr/>
          </p:nvSpPr>
          <p:spPr>
            <a:xfrm>
              <a:off x="0" y="9639300"/>
              <a:ext cx="18288000" cy="647700"/>
            </a:xfrm>
            <a:prstGeom prst="rect">
              <a:avLst/>
            </a:prstGeom>
            <a:solidFill>
              <a:srgbClr val="EC1B25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IN" sz="2400" dirty="0"/>
                <a:t>      1‎ ‎    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9F23A29-9D49-09B6-2432-4853E61B2E3C}"/>
                </a:ext>
              </a:extLst>
            </p:cNvPr>
            <p:cNvSpPr txBox="1"/>
            <p:nvPr/>
          </p:nvSpPr>
          <p:spPr>
            <a:xfrm>
              <a:off x="4984287" y="9778484"/>
              <a:ext cx="92324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i="1" dirty="0" err="1">
                  <a:solidFill>
                    <a:schemeClr val="bg1"/>
                  </a:solidFill>
                </a:rPr>
                <a:t>HackSAC</a:t>
              </a:r>
              <a:r>
                <a:rPr lang="en-IN" b="1" i="1" dirty="0">
                  <a:solidFill>
                    <a:schemeClr val="bg1"/>
                  </a:solidFill>
                </a:rPr>
                <a:t> By Student’s Association of Computer Department, </a:t>
              </a:r>
              <a:r>
                <a:rPr lang="en-IN" b="1" i="1" dirty="0" err="1">
                  <a:solidFill>
                    <a:schemeClr val="bg1"/>
                  </a:solidFill>
                </a:rPr>
                <a:t>Instistute</a:t>
              </a:r>
              <a:r>
                <a:rPr lang="en-IN" b="1" i="1" dirty="0">
                  <a:solidFill>
                    <a:schemeClr val="bg1"/>
                  </a:solidFill>
                </a:rPr>
                <a:t> of Engineering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4070098" y="447898"/>
            <a:ext cx="10262101" cy="863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Problem Overview and Solution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5622153" y="2214606"/>
            <a:ext cx="7043694" cy="7043694"/>
          </a:xfrm>
          <a:custGeom>
            <a:avLst/>
            <a:gdLst/>
            <a:ahLst/>
            <a:cxnLst/>
            <a:rect l="l" t="t" r="r" b="b"/>
            <a:pathLst>
              <a:path w="7043694" h="7043694">
                <a:moveTo>
                  <a:pt x="0" y="0"/>
                </a:moveTo>
                <a:lnTo>
                  <a:pt x="7043694" y="0"/>
                </a:lnTo>
                <a:lnTo>
                  <a:pt x="7043694" y="7043694"/>
                </a:lnTo>
                <a:lnTo>
                  <a:pt x="0" y="70436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4FFFAC-F9E2-2C2A-0274-9600ED921C1D}"/>
              </a:ext>
            </a:extLst>
          </p:cNvPr>
          <p:cNvSpPr txBox="1"/>
          <p:nvPr/>
        </p:nvSpPr>
        <p:spPr>
          <a:xfrm>
            <a:off x="1485899" y="2857500"/>
            <a:ext cx="153162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Purpose:</a:t>
            </a:r>
            <a:r>
              <a:rPr lang="en-IN" sz="3200" dirty="0"/>
              <a:t> This is the most important slide. If the problem isn't clear here, nothing after it will land.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The problem:</a:t>
            </a:r>
            <a:r>
              <a:rPr lang="en-IN" sz="3200" dirty="0"/>
              <a:t> What is wrong, who faces it, and how often. One real example or statistic makes it far stronger than general statements.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Why it matters:</a:t>
            </a:r>
            <a:r>
              <a:rPr lang="en-IN" sz="3200" dirty="0"/>
              <a:t> What happens if the problem isn't solved?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The solution:</a:t>
            </a:r>
            <a:r>
              <a:rPr lang="en-IN" sz="3200" dirty="0"/>
              <a:t> What the team is building, in plain language, so a non-technical judge can follow.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What makes it different:</a:t>
            </a:r>
            <a:r>
              <a:rPr lang="en-IN" sz="3200" dirty="0"/>
              <a:t> How it improves on existing apps or methods.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702E18-156C-0D2A-1097-7779C56CE4E8}"/>
              </a:ext>
            </a:extLst>
          </p:cNvPr>
          <p:cNvSpPr txBox="1"/>
          <p:nvPr/>
        </p:nvSpPr>
        <p:spPr>
          <a:xfrm>
            <a:off x="1485899" y="7533785"/>
            <a:ext cx="154305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i="1" dirty="0">
                <a:solidFill>
                  <a:srgbClr val="FF0000"/>
                </a:solidFill>
              </a:rPr>
              <a:t>Common mistake:</a:t>
            </a:r>
            <a:r>
              <a:rPr lang="en-IN" sz="3200" dirty="0">
                <a:solidFill>
                  <a:srgbClr val="FF0000"/>
                </a:solidFill>
              </a:rPr>
              <a:t> Spending the whole slide on the problem and only mentioning the solution at the end.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2FA1B1F-F2AF-72AB-AEBD-6307B5ED7F82}"/>
              </a:ext>
            </a:extLst>
          </p:cNvPr>
          <p:cNvSpPr/>
          <p:nvPr/>
        </p:nvSpPr>
        <p:spPr>
          <a:xfrm>
            <a:off x="342899" y="232019"/>
            <a:ext cx="2286000" cy="647700"/>
          </a:xfrm>
          <a:prstGeom prst="roundRect">
            <a:avLst/>
          </a:prstGeom>
          <a:solidFill>
            <a:srgbClr val="EC1B2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TEAM NAME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B0E1EE6-C29F-EC8A-ABB3-97BC0616F254}"/>
              </a:ext>
            </a:extLst>
          </p:cNvPr>
          <p:cNvGrpSpPr/>
          <p:nvPr/>
        </p:nvGrpSpPr>
        <p:grpSpPr>
          <a:xfrm>
            <a:off x="0" y="9639300"/>
            <a:ext cx="18288000" cy="647700"/>
            <a:chOff x="0" y="9639300"/>
            <a:chExt cx="18288000" cy="6477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7C7FA41-68A7-349F-2892-EEDBE18FA278}"/>
                </a:ext>
              </a:extLst>
            </p:cNvPr>
            <p:cNvSpPr/>
            <p:nvPr/>
          </p:nvSpPr>
          <p:spPr>
            <a:xfrm>
              <a:off x="0" y="9639300"/>
              <a:ext cx="18288000" cy="647700"/>
            </a:xfrm>
            <a:prstGeom prst="rect">
              <a:avLst/>
            </a:prstGeom>
            <a:solidFill>
              <a:srgbClr val="EC1B25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IN" sz="2400" dirty="0"/>
                <a:t>      2‎ ‎    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CC6136E-0EC5-4071-A4F8-4AAE75018079}"/>
                </a:ext>
              </a:extLst>
            </p:cNvPr>
            <p:cNvSpPr txBox="1"/>
            <p:nvPr/>
          </p:nvSpPr>
          <p:spPr>
            <a:xfrm>
              <a:off x="4984287" y="9778484"/>
              <a:ext cx="92324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i="1" dirty="0" err="1">
                  <a:solidFill>
                    <a:schemeClr val="bg1"/>
                  </a:solidFill>
                </a:rPr>
                <a:t>HackSAC</a:t>
              </a:r>
              <a:r>
                <a:rPr lang="en-IN" b="1" i="1" dirty="0">
                  <a:solidFill>
                    <a:schemeClr val="bg1"/>
                  </a:solidFill>
                </a:rPr>
                <a:t> By Student’s Association of Computer Department, </a:t>
              </a:r>
              <a:r>
                <a:rPr lang="en-IN" b="1" i="1" dirty="0" err="1">
                  <a:solidFill>
                    <a:schemeClr val="bg1"/>
                  </a:solidFill>
                </a:rPr>
                <a:t>Instistute</a:t>
              </a:r>
              <a:r>
                <a:rPr lang="en-IN" b="1" i="1" dirty="0">
                  <a:solidFill>
                    <a:schemeClr val="bg1"/>
                  </a:solidFill>
                </a:rPr>
                <a:t> of Engineering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Freeform 2">
            <a:extLst>
              <a:ext uri="{FF2B5EF4-FFF2-40B4-BE49-F238E27FC236}">
                <a16:creationId xmlns:a16="http://schemas.microsoft.com/office/drawing/2014/main" id="{30ADAA49-4F4C-1BBD-2F74-DC181955D349}"/>
              </a:ext>
            </a:extLst>
          </p:cNvPr>
          <p:cNvSpPr/>
          <p:nvPr/>
        </p:nvSpPr>
        <p:spPr>
          <a:xfrm>
            <a:off x="16686472" y="186813"/>
            <a:ext cx="1385812" cy="1385812"/>
          </a:xfrm>
          <a:custGeom>
            <a:avLst/>
            <a:gdLst/>
            <a:ahLst/>
            <a:cxnLst/>
            <a:rect l="l" t="t" r="r" b="b"/>
            <a:pathLst>
              <a:path w="1385812" h="1385812">
                <a:moveTo>
                  <a:pt x="0" y="0"/>
                </a:moveTo>
                <a:lnTo>
                  <a:pt x="1385812" y="0"/>
                </a:lnTo>
                <a:lnTo>
                  <a:pt x="1385812" y="1385813"/>
                </a:lnTo>
                <a:lnTo>
                  <a:pt x="0" y="1385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5750079" y="447898"/>
            <a:ext cx="6787837" cy="863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Technical Approach</a:t>
            </a:r>
          </a:p>
        </p:txBody>
      </p:sp>
      <p:sp>
        <p:nvSpPr>
          <p:cNvPr id="7" name="Freeform 7"/>
          <p:cNvSpPr/>
          <p:nvPr/>
        </p:nvSpPr>
        <p:spPr>
          <a:xfrm>
            <a:off x="5622153" y="2214606"/>
            <a:ext cx="7043694" cy="7043694"/>
          </a:xfrm>
          <a:custGeom>
            <a:avLst/>
            <a:gdLst/>
            <a:ahLst/>
            <a:cxnLst/>
            <a:rect l="l" t="t" r="r" b="b"/>
            <a:pathLst>
              <a:path w="7043694" h="7043694">
                <a:moveTo>
                  <a:pt x="0" y="0"/>
                </a:moveTo>
                <a:lnTo>
                  <a:pt x="7043694" y="0"/>
                </a:lnTo>
                <a:lnTo>
                  <a:pt x="7043694" y="7043694"/>
                </a:lnTo>
                <a:lnTo>
                  <a:pt x="0" y="70436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B1E9E7-5215-7D6E-FF2B-D36F1192413B}"/>
              </a:ext>
            </a:extLst>
          </p:cNvPr>
          <p:cNvSpPr txBox="1"/>
          <p:nvPr/>
        </p:nvSpPr>
        <p:spPr>
          <a:xfrm>
            <a:off x="1154060" y="2475691"/>
            <a:ext cx="1597987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3200" b="1" dirty="0"/>
              <a:t>Purpose:</a:t>
            </a:r>
            <a:r>
              <a:rPr lang="en-IN" sz="3200" dirty="0"/>
              <a:t> Show that the team knows </a:t>
            </a:r>
            <a:r>
              <a:rPr lang="en-IN" sz="3200" i="1" dirty="0"/>
              <a:t>how</a:t>
            </a:r>
            <a:r>
              <a:rPr lang="en-IN" sz="3200" dirty="0"/>
              <a:t> they'll build it, not just what.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3200" b="1" dirty="0"/>
              <a:t>Tech stack:</a:t>
            </a:r>
            <a:r>
              <a:rPr lang="en-IN" sz="3200" dirty="0"/>
              <a:t> Languages, frameworks, database, APIs, and any AI/ML models, with a short reason for each choice.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3200" b="1" dirty="0"/>
              <a:t>Architecture or flow diagram:</a:t>
            </a:r>
            <a:r>
              <a:rPr lang="en-IN" sz="3200" dirty="0"/>
              <a:t> A simple block diagram showing user → frontend → backend → database → output.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3200" b="1" dirty="0"/>
              <a:t>How it works:</a:t>
            </a:r>
            <a:r>
              <a:rPr lang="en-IN" sz="3200" dirty="0"/>
              <a:t> 3 to 5 steps describing what happens from the user's first action to the result.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3200" b="1" dirty="0"/>
              <a:t>Progress so far:</a:t>
            </a:r>
            <a:r>
              <a:rPr lang="en-IN" sz="3200" dirty="0"/>
              <a:t> For second years, a wireframe, </a:t>
            </a:r>
            <a:r>
              <a:rPr lang="en-IN" sz="3200" dirty="0" err="1"/>
              <a:t>mockup</a:t>
            </a:r>
            <a:r>
              <a:rPr lang="en-IN" sz="3200" dirty="0"/>
              <a:t> or small working demo counts. A working prototype isn't expected.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A07838-A1FF-8711-975A-78DBC0D30779}"/>
              </a:ext>
            </a:extLst>
          </p:cNvPr>
          <p:cNvSpPr txBox="1"/>
          <p:nvPr/>
        </p:nvSpPr>
        <p:spPr>
          <a:xfrm>
            <a:off x="1154060" y="7695229"/>
            <a:ext cx="162195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i="1" dirty="0">
                <a:solidFill>
                  <a:srgbClr val="FF0000"/>
                </a:solidFill>
              </a:rPr>
              <a:t>Common mistake:</a:t>
            </a:r>
            <a:r>
              <a:rPr lang="en-IN" sz="3200" dirty="0">
                <a:solidFill>
                  <a:srgbClr val="FF0000"/>
                </a:solidFill>
              </a:rPr>
              <a:t> Listing every technology they've heard of rather than the ones they'll actually use.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A25103F-9D41-E660-E9D7-B5546CCD075E}"/>
              </a:ext>
            </a:extLst>
          </p:cNvPr>
          <p:cNvGrpSpPr/>
          <p:nvPr/>
        </p:nvGrpSpPr>
        <p:grpSpPr>
          <a:xfrm>
            <a:off x="0" y="9639300"/>
            <a:ext cx="18288000" cy="647700"/>
            <a:chOff x="0" y="9639300"/>
            <a:chExt cx="18288000" cy="6477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2BEA75E-B255-5F61-2665-DF7305EB1D30}"/>
                </a:ext>
              </a:extLst>
            </p:cNvPr>
            <p:cNvSpPr/>
            <p:nvPr/>
          </p:nvSpPr>
          <p:spPr>
            <a:xfrm>
              <a:off x="0" y="9639300"/>
              <a:ext cx="18288000" cy="647700"/>
            </a:xfrm>
            <a:prstGeom prst="rect">
              <a:avLst/>
            </a:prstGeom>
            <a:solidFill>
              <a:srgbClr val="EC1B25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IN" sz="2400" dirty="0"/>
                <a:t>      3‎ ‎     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45212F4-3C5B-CCC4-3751-4B7BFABE0AC3}"/>
                </a:ext>
              </a:extLst>
            </p:cNvPr>
            <p:cNvSpPr txBox="1"/>
            <p:nvPr/>
          </p:nvSpPr>
          <p:spPr>
            <a:xfrm>
              <a:off x="4984287" y="9778484"/>
              <a:ext cx="92324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i="1" dirty="0" err="1">
                  <a:solidFill>
                    <a:schemeClr val="bg1"/>
                  </a:solidFill>
                </a:rPr>
                <a:t>HackSAC</a:t>
              </a:r>
              <a:r>
                <a:rPr lang="en-IN" b="1" i="1" dirty="0">
                  <a:solidFill>
                    <a:schemeClr val="bg1"/>
                  </a:solidFill>
                </a:rPr>
                <a:t> By Student’s Association of Computer Department, </a:t>
              </a:r>
              <a:r>
                <a:rPr lang="en-IN" b="1" i="1" dirty="0" err="1">
                  <a:solidFill>
                    <a:schemeClr val="bg1"/>
                  </a:solidFill>
                </a:rPr>
                <a:t>Instistute</a:t>
              </a:r>
              <a:r>
                <a:rPr lang="en-IN" b="1" i="1" dirty="0">
                  <a:solidFill>
                    <a:schemeClr val="bg1"/>
                  </a:solidFill>
                </a:rPr>
                <a:t> of Engineering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Freeform 2">
            <a:extLst>
              <a:ext uri="{FF2B5EF4-FFF2-40B4-BE49-F238E27FC236}">
                <a16:creationId xmlns:a16="http://schemas.microsoft.com/office/drawing/2014/main" id="{A811B664-827B-C522-4EF3-02428467A853}"/>
              </a:ext>
            </a:extLst>
          </p:cNvPr>
          <p:cNvSpPr/>
          <p:nvPr/>
        </p:nvSpPr>
        <p:spPr>
          <a:xfrm>
            <a:off x="16686472" y="186813"/>
            <a:ext cx="1385812" cy="1385812"/>
          </a:xfrm>
          <a:custGeom>
            <a:avLst/>
            <a:gdLst/>
            <a:ahLst/>
            <a:cxnLst/>
            <a:rect l="l" t="t" r="r" b="b"/>
            <a:pathLst>
              <a:path w="1385812" h="1385812">
                <a:moveTo>
                  <a:pt x="0" y="0"/>
                </a:moveTo>
                <a:lnTo>
                  <a:pt x="1385812" y="0"/>
                </a:lnTo>
                <a:lnTo>
                  <a:pt x="1385812" y="1385813"/>
                </a:lnTo>
                <a:lnTo>
                  <a:pt x="0" y="1385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33DF560-8497-08A4-8999-53079A71A4FE}"/>
              </a:ext>
            </a:extLst>
          </p:cNvPr>
          <p:cNvSpPr/>
          <p:nvPr/>
        </p:nvSpPr>
        <p:spPr>
          <a:xfrm>
            <a:off x="342899" y="232019"/>
            <a:ext cx="2286000" cy="647700"/>
          </a:xfrm>
          <a:prstGeom prst="roundRect">
            <a:avLst/>
          </a:prstGeom>
          <a:solidFill>
            <a:srgbClr val="EC1B2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TEAM NAME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5435130" y="447898"/>
            <a:ext cx="7417740" cy="863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Feasibility and Viability</a:t>
            </a:r>
          </a:p>
        </p:txBody>
      </p:sp>
      <p:sp>
        <p:nvSpPr>
          <p:cNvPr id="7" name="Freeform 7"/>
          <p:cNvSpPr/>
          <p:nvPr/>
        </p:nvSpPr>
        <p:spPr>
          <a:xfrm>
            <a:off x="5622153" y="2214606"/>
            <a:ext cx="7043694" cy="7043694"/>
          </a:xfrm>
          <a:custGeom>
            <a:avLst/>
            <a:gdLst/>
            <a:ahLst/>
            <a:cxnLst/>
            <a:rect l="l" t="t" r="r" b="b"/>
            <a:pathLst>
              <a:path w="7043694" h="7043694">
                <a:moveTo>
                  <a:pt x="0" y="0"/>
                </a:moveTo>
                <a:lnTo>
                  <a:pt x="7043694" y="0"/>
                </a:lnTo>
                <a:lnTo>
                  <a:pt x="7043694" y="7043694"/>
                </a:lnTo>
                <a:lnTo>
                  <a:pt x="0" y="70436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81E0AD-71CC-D0E0-7328-72F12D534A2E}"/>
              </a:ext>
            </a:extLst>
          </p:cNvPr>
          <p:cNvSpPr txBox="1"/>
          <p:nvPr/>
        </p:nvSpPr>
        <p:spPr>
          <a:xfrm>
            <a:off x="1524000" y="2452339"/>
            <a:ext cx="153162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3200" b="1" dirty="0"/>
              <a:t>Purpose:</a:t>
            </a:r>
            <a:r>
              <a:rPr lang="en-IN" sz="3200" dirty="0"/>
              <a:t> Convince judges the idea can actually be built and could keep running after the hackathon.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3200" b="1" dirty="0"/>
              <a:t>Feasibility:</a:t>
            </a:r>
            <a:r>
              <a:rPr lang="en-IN" sz="3200" dirty="0"/>
              <a:t> Can the team build it with their current skills, tools, time and budget?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3200" b="1" dirty="0"/>
              <a:t>Challenges and risks:</a:t>
            </a:r>
            <a:r>
              <a:rPr lang="en-IN" sz="3200" dirty="0"/>
              <a:t> 2 to 3 real obstacles (data availability, cost, user adoption, technical limits) and how they'd handle each.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3200" b="1" dirty="0"/>
              <a:t>Viability:</a:t>
            </a:r>
            <a:r>
              <a:rPr lang="en-IN" sz="3200" dirty="0"/>
              <a:t> Would people use it long term? Who would pay for it or maintain it?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3200" b="1" dirty="0"/>
              <a:t>Roadmap:</a:t>
            </a:r>
            <a:r>
              <a:rPr lang="en-IN" sz="3200" dirty="0"/>
              <a:t> A short timeline, e.g. Phase 1 (MVP), Phase 2 (more features), Phase 3 (scale).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9C52EE-8AAA-A08A-E0AC-6F35E9347BCC}"/>
              </a:ext>
            </a:extLst>
          </p:cNvPr>
          <p:cNvSpPr txBox="1"/>
          <p:nvPr/>
        </p:nvSpPr>
        <p:spPr>
          <a:xfrm>
            <a:off x="1154060" y="7695229"/>
            <a:ext cx="162195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i="1" dirty="0">
                <a:solidFill>
                  <a:srgbClr val="FF0000"/>
                </a:solidFill>
              </a:rPr>
              <a:t>Common mistake:</a:t>
            </a:r>
            <a:r>
              <a:rPr lang="en-IN" sz="3200" dirty="0">
                <a:solidFill>
                  <a:srgbClr val="FF0000"/>
                </a:solidFill>
              </a:rPr>
              <a:t> Claiming there are no challenges.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83FD8DC-3829-03DA-9B43-F466C4D17CE9}"/>
              </a:ext>
            </a:extLst>
          </p:cNvPr>
          <p:cNvGrpSpPr/>
          <p:nvPr/>
        </p:nvGrpSpPr>
        <p:grpSpPr>
          <a:xfrm>
            <a:off x="0" y="9639300"/>
            <a:ext cx="18288000" cy="647700"/>
            <a:chOff x="0" y="9639300"/>
            <a:chExt cx="18288000" cy="6477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FC4A17A-DD46-051E-6E7E-7621D71363D4}"/>
                </a:ext>
              </a:extLst>
            </p:cNvPr>
            <p:cNvSpPr/>
            <p:nvPr/>
          </p:nvSpPr>
          <p:spPr>
            <a:xfrm>
              <a:off x="0" y="9639300"/>
              <a:ext cx="18288000" cy="647700"/>
            </a:xfrm>
            <a:prstGeom prst="rect">
              <a:avLst/>
            </a:prstGeom>
            <a:solidFill>
              <a:srgbClr val="EC1B25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IN" sz="2400" dirty="0"/>
                <a:t>      4‎ ‎     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A285CA7-794F-4EAF-BD4A-7E5ABB481010}"/>
                </a:ext>
              </a:extLst>
            </p:cNvPr>
            <p:cNvSpPr txBox="1"/>
            <p:nvPr/>
          </p:nvSpPr>
          <p:spPr>
            <a:xfrm>
              <a:off x="4984287" y="9778484"/>
              <a:ext cx="92324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i="1" dirty="0" err="1">
                  <a:solidFill>
                    <a:schemeClr val="bg1"/>
                  </a:solidFill>
                </a:rPr>
                <a:t>HackSAC</a:t>
              </a:r>
              <a:r>
                <a:rPr lang="en-IN" b="1" i="1" dirty="0">
                  <a:solidFill>
                    <a:schemeClr val="bg1"/>
                  </a:solidFill>
                </a:rPr>
                <a:t> By Student’s Association of Computer Department, </a:t>
              </a:r>
              <a:r>
                <a:rPr lang="en-IN" b="1" i="1" dirty="0" err="1">
                  <a:solidFill>
                    <a:schemeClr val="bg1"/>
                  </a:solidFill>
                </a:rPr>
                <a:t>Instistute</a:t>
              </a:r>
              <a:r>
                <a:rPr lang="en-IN" b="1" i="1" dirty="0">
                  <a:solidFill>
                    <a:schemeClr val="bg1"/>
                  </a:solidFill>
                </a:rPr>
                <a:t> of Engineering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Freeform 2">
            <a:extLst>
              <a:ext uri="{FF2B5EF4-FFF2-40B4-BE49-F238E27FC236}">
                <a16:creationId xmlns:a16="http://schemas.microsoft.com/office/drawing/2014/main" id="{3FB1ABCA-2CC3-CA4F-3ED7-641A680B9E28}"/>
              </a:ext>
            </a:extLst>
          </p:cNvPr>
          <p:cNvSpPr/>
          <p:nvPr/>
        </p:nvSpPr>
        <p:spPr>
          <a:xfrm>
            <a:off x="16686472" y="186813"/>
            <a:ext cx="1385812" cy="1385812"/>
          </a:xfrm>
          <a:custGeom>
            <a:avLst/>
            <a:gdLst/>
            <a:ahLst/>
            <a:cxnLst/>
            <a:rect l="l" t="t" r="r" b="b"/>
            <a:pathLst>
              <a:path w="1385812" h="1385812">
                <a:moveTo>
                  <a:pt x="0" y="0"/>
                </a:moveTo>
                <a:lnTo>
                  <a:pt x="1385812" y="0"/>
                </a:lnTo>
                <a:lnTo>
                  <a:pt x="1385812" y="1385813"/>
                </a:lnTo>
                <a:lnTo>
                  <a:pt x="0" y="1385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AD920E9-8CAF-7F92-D6F4-83606B977E46}"/>
              </a:ext>
            </a:extLst>
          </p:cNvPr>
          <p:cNvSpPr/>
          <p:nvPr/>
        </p:nvSpPr>
        <p:spPr>
          <a:xfrm>
            <a:off x="342899" y="232019"/>
            <a:ext cx="2286000" cy="647700"/>
          </a:xfrm>
          <a:prstGeom prst="roundRect">
            <a:avLst/>
          </a:prstGeom>
          <a:solidFill>
            <a:srgbClr val="EC1B2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TEAM NAME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6114225" y="452896"/>
            <a:ext cx="6059550" cy="863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Impacts and Benefits</a:t>
            </a:r>
          </a:p>
        </p:txBody>
      </p:sp>
      <p:sp>
        <p:nvSpPr>
          <p:cNvPr id="7" name="Freeform 7"/>
          <p:cNvSpPr/>
          <p:nvPr/>
        </p:nvSpPr>
        <p:spPr>
          <a:xfrm>
            <a:off x="5622153" y="2214606"/>
            <a:ext cx="7043694" cy="7043694"/>
          </a:xfrm>
          <a:custGeom>
            <a:avLst/>
            <a:gdLst/>
            <a:ahLst/>
            <a:cxnLst/>
            <a:rect l="l" t="t" r="r" b="b"/>
            <a:pathLst>
              <a:path w="7043694" h="7043694">
                <a:moveTo>
                  <a:pt x="0" y="0"/>
                </a:moveTo>
                <a:lnTo>
                  <a:pt x="7043694" y="0"/>
                </a:lnTo>
                <a:lnTo>
                  <a:pt x="7043694" y="7043694"/>
                </a:lnTo>
                <a:lnTo>
                  <a:pt x="0" y="70436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EDD16C-926E-FCDC-4573-A1A36F5D93BB}"/>
              </a:ext>
            </a:extLst>
          </p:cNvPr>
          <p:cNvSpPr txBox="1"/>
          <p:nvPr/>
        </p:nvSpPr>
        <p:spPr>
          <a:xfrm>
            <a:off x="1676400" y="2019300"/>
            <a:ext cx="12420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3200" b="1"/>
              <a:t>Purpose:</a:t>
            </a:r>
            <a:r>
              <a:rPr lang="en-IN" sz="3200"/>
              <a:t> Answer the "so what?" question by showing who gains and how much.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3200" b="1"/>
              <a:t>Target users:</a:t>
            </a:r>
            <a:r>
              <a:rPr lang="en-IN" sz="3200"/>
              <a:t> Who benefits directly (students, farmers, patients, small shops) and who benefits indirectly.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3200" b="1"/>
              <a:t>Types of impact:</a:t>
            </a:r>
            <a:r>
              <a:rPr lang="en-IN" sz="3200"/>
              <a:t> Social, economic, environmental or educational.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3200" b="1"/>
              <a:t>Measurable outcomes:</a:t>
            </a:r>
            <a:r>
              <a:rPr lang="en-IN" sz="3200"/>
              <a:t> Numbers where possible, like time saved, cost reduced or number of people reached. Even estimates are fine if they explain the reasoning.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3200" b="1"/>
              <a:t>Scalability:</a:t>
            </a:r>
            <a:r>
              <a:rPr lang="en-IN" sz="3200"/>
              <a:t> Could it work beyond the college, city or one group of users?</a:t>
            </a:r>
            <a:endParaRPr lang="en-IN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1BC17F-7558-92EE-C088-2B719EAD8ED2}"/>
              </a:ext>
            </a:extLst>
          </p:cNvPr>
          <p:cNvSpPr txBox="1"/>
          <p:nvPr/>
        </p:nvSpPr>
        <p:spPr>
          <a:xfrm>
            <a:off x="1693606" y="7608570"/>
            <a:ext cx="140035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i="1" dirty="0">
                <a:solidFill>
                  <a:srgbClr val="FF0000"/>
                </a:solidFill>
              </a:rPr>
              <a:t>Common mistake:</a:t>
            </a:r>
            <a:r>
              <a:rPr lang="en-IN" sz="3200" dirty="0">
                <a:solidFill>
                  <a:srgbClr val="FF0000"/>
                </a:solidFill>
              </a:rPr>
              <a:t> Vague claims like "it will help society" with nothing specific.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8834F3C-34F8-23DB-D368-34F3FCF2B0A9}"/>
              </a:ext>
            </a:extLst>
          </p:cNvPr>
          <p:cNvGrpSpPr/>
          <p:nvPr/>
        </p:nvGrpSpPr>
        <p:grpSpPr>
          <a:xfrm>
            <a:off x="0" y="9639300"/>
            <a:ext cx="18288000" cy="647700"/>
            <a:chOff x="0" y="9639300"/>
            <a:chExt cx="18288000" cy="6477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091AAFA-30F8-0000-2CA8-E9198DC171B4}"/>
                </a:ext>
              </a:extLst>
            </p:cNvPr>
            <p:cNvSpPr/>
            <p:nvPr/>
          </p:nvSpPr>
          <p:spPr>
            <a:xfrm>
              <a:off x="0" y="9639300"/>
              <a:ext cx="18288000" cy="647700"/>
            </a:xfrm>
            <a:prstGeom prst="rect">
              <a:avLst/>
            </a:prstGeom>
            <a:solidFill>
              <a:srgbClr val="EC1B25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IN" sz="2400" dirty="0"/>
                <a:t>      5‎ ‎     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839DC4D-7EF2-BB6B-6C33-FA5D2DB3F5B6}"/>
                </a:ext>
              </a:extLst>
            </p:cNvPr>
            <p:cNvSpPr txBox="1"/>
            <p:nvPr/>
          </p:nvSpPr>
          <p:spPr>
            <a:xfrm>
              <a:off x="4984287" y="9778484"/>
              <a:ext cx="92324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i="1" dirty="0" err="1">
                  <a:solidFill>
                    <a:schemeClr val="bg1"/>
                  </a:solidFill>
                </a:rPr>
                <a:t>HackSAC</a:t>
              </a:r>
              <a:r>
                <a:rPr lang="en-IN" b="1" i="1" dirty="0">
                  <a:solidFill>
                    <a:schemeClr val="bg1"/>
                  </a:solidFill>
                </a:rPr>
                <a:t> By Student’s Association of Computer Department, </a:t>
              </a:r>
              <a:r>
                <a:rPr lang="en-IN" b="1" i="1" dirty="0" err="1">
                  <a:solidFill>
                    <a:schemeClr val="bg1"/>
                  </a:solidFill>
                </a:rPr>
                <a:t>Instistute</a:t>
              </a:r>
              <a:r>
                <a:rPr lang="en-IN" b="1" i="1" dirty="0">
                  <a:solidFill>
                    <a:schemeClr val="bg1"/>
                  </a:solidFill>
                </a:rPr>
                <a:t> of Engineering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Freeform 2">
            <a:extLst>
              <a:ext uri="{FF2B5EF4-FFF2-40B4-BE49-F238E27FC236}">
                <a16:creationId xmlns:a16="http://schemas.microsoft.com/office/drawing/2014/main" id="{CEF31AEE-5B12-AE3F-C026-4AD468A9DF6E}"/>
              </a:ext>
            </a:extLst>
          </p:cNvPr>
          <p:cNvSpPr/>
          <p:nvPr/>
        </p:nvSpPr>
        <p:spPr>
          <a:xfrm>
            <a:off x="16686472" y="186813"/>
            <a:ext cx="1385812" cy="1385812"/>
          </a:xfrm>
          <a:custGeom>
            <a:avLst/>
            <a:gdLst/>
            <a:ahLst/>
            <a:cxnLst/>
            <a:rect l="l" t="t" r="r" b="b"/>
            <a:pathLst>
              <a:path w="1385812" h="1385812">
                <a:moveTo>
                  <a:pt x="0" y="0"/>
                </a:moveTo>
                <a:lnTo>
                  <a:pt x="1385812" y="0"/>
                </a:lnTo>
                <a:lnTo>
                  <a:pt x="1385812" y="1385813"/>
                </a:lnTo>
                <a:lnTo>
                  <a:pt x="0" y="1385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C7ABB76-8701-D93B-ED01-FFE092901A52}"/>
              </a:ext>
            </a:extLst>
          </p:cNvPr>
          <p:cNvSpPr/>
          <p:nvPr/>
        </p:nvSpPr>
        <p:spPr>
          <a:xfrm>
            <a:off x="342899" y="232019"/>
            <a:ext cx="2286000" cy="647700"/>
          </a:xfrm>
          <a:prstGeom prst="roundRect">
            <a:avLst/>
          </a:prstGeom>
          <a:solidFill>
            <a:srgbClr val="EC1B2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TEAM NAME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4794787" y="443756"/>
            <a:ext cx="8698425" cy="863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Researches and References</a:t>
            </a:r>
          </a:p>
        </p:txBody>
      </p:sp>
      <p:sp>
        <p:nvSpPr>
          <p:cNvPr id="7" name="Freeform 7"/>
          <p:cNvSpPr/>
          <p:nvPr/>
        </p:nvSpPr>
        <p:spPr>
          <a:xfrm>
            <a:off x="5622153" y="2214606"/>
            <a:ext cx="7043694" cy="7043694"/>
          </a:xfrm>
          <a:custGeom>
            <a:avLst/>
            <a:gdLst/>
            <a:ahLst/>
            <a:cxnLst/>
            <a:rect l="l" t="t" r="r" b="b"/>
            <a:pathLst>
              <a:path w="7043694" h="7043694">
                <a:moveTo>
                  <a:pt x="0" y="0"/>
                </a:moveTo>
                <a:lnTo>
                  <a:pt x="7043694" y="0"/>
                </a:lnTo>
                <a:lnTo>
                  <a:pt x="7043694" y="7043694"/>
                </a:lnTo>
                <a:lnTo>
                  <a:pt x="0" y="70436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01F643-DE0C-B32E-2BA1-3298E4C618D8}"/>
              </a:ext>
            </a:extLst>
          </p:cNvPr>
          <p:cNvSpPr txBox="1"/>
          <p:nvPr/>
        </p:nvSpPr>
        <p:spPr>
          <a:xfrm>
            <a:off x="1524000" y="2628900"/>
            <a:ext cx="150114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3200" b="1" dirty="0"/>
              <a:t>Purpose:</a:t>
            </a:r>
            <a:r>
              <a:rPr lang="en-IN" sz="3200" dirty="0"/>
              <a:t> Show the idea is grounded in real research, and let judges verify it.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3200" b="1" dirty="0"/>
              <a:t>Sources:</a:t>
            </a:r>
            <a:r>
              <a:rPr lang="en-IN" sz="3200" dirty="0"/>
              <a:t> Articles, research papers, government reports and datasets used for the problem statistics or the technical approach.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3200" b="1" dirty="0"/>
              <a:t>Existing solutions studied:</a:t>
            </a:r>
            <a:r>
              <a:rPr lang="en-IN" sz="3200" dirty="0"/>
              <a:t> Names of similar apps or products, and what they lack.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3200" b="1" dirty="0"/>
              <a:t>Project links:</a:t>
            </a:r>
            <a:r>
              <a:rPr lang="en-IN" sz="3200" dirty="0"/>
              <a:t> GitHub repo, demo video, Figma design, or a live link, if available.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3200" b="1" dirty="0"/>
              <a:t>Format:</a:t>
            </a:r>
            <a:r>
              <a:rPr lang="en-IN" sz="3200" dirty="0"/>
              <a:t> Numbered list with a consistent style, so it looks tidy.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D982A6-A03D-791F-7FCD-280ADCD4FEB1}"/>
              </a:ext>
            </a:extLst>
          </p:cNvPr>
          <p:cNvSpPr txBox="1"/>
          <p:nvPr/>
        </p:nvSpPr>
        <p:spPr>
          <a:xfrm>
            <a:off x="1538748" y="6928485"/>
            <a:ext cx="148442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i="1" dirty="0">
                <a:solidFill>
                  <a:srgbClr val="FF0000"/>
                </a:solidFill>
              </a:rPr>
              <a:t>Common mistake:</a:t>
            </a:r>
            <a:r>
              <a:rPr lang="en-IN" sz="3200" dirty="0">
                <a:solidFill>
                  <a:srgbClr val="FF0000"/>
                </a:solidFill>
              </a:rPr>
              <a:t> Pasting links with no titles, or including sources that were never used.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87612F9-1C61-8009-FC78-B39BDAE63D60}"/>
              </a:ext>
            </a:extLst>
          </p:cNvPr>
          <p:cNvGrpSpPr/>
          <p:nvPr/>
        </p:nvGrpSpPr>
        <p:grpSpPr>
          <a:xfrm>
            <a:off x="0" y="9639300"/>
            <a:ext cx="18288000" cy="647700"/>
            <a:chOff x="0" y="9639300"/>
            <a:chExt cx="18288000" cy="6477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C64133-4E86-CA6E-C0FF-D4755DAE99A8}"/>
                </a:ext>
              </a:extLst>
            </p:cNvPr>
            <p:cNvSpPr/>
            <p:nvPr/>
          </p:nvSpPr>
          <p:spPr>
            <a:xfrm>
              <a:off x="0" y="9639300"/>
              <a:ext cx="18288000" cy="647700"/>
            </a:xfrm>
            <a:prstGeom prst="rect">
              <a:avLst/>
            </a:prstGeom>
            <a:solidFill>
              <a:srgbClr val="EC1B25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IN" sz="2400" dirty="0"/>
                <a:t>      6‎ ‎    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1CF97C6-44CD-D3B5-A689-876CED1B1666}"/>
                </a:ext>
              </a:extLst>
            </p:cNvPr>
            <p:cNvSpPr txBox="1"/>
            <p:nvPr/>
          </p:nvSpPr>
          <p:spPr>
            <a:xfrm>
              <a:off x="4984287" y="9778484"/>
              <a:ext cx="92324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i="1" dirty="0" err="1">
                  <a:solidFill>
                    <a:schemeClr val="bg1"/>
                  </a:solidFill>
                </a:rPr>
                <a:t>HackSAC</a:t>
              </a:r>
              <a:r>
                <a:rPr lang="en-IN" b="1" i="1" dirty="0">
                  <a:solidFill>
                    <a:schemeClr val="bg1"/>
                  </a:solidFill>
                </a:rPr>
                <a:t> By Student’s Association of Computer Department, </a:t>
              </a:r>
              <a:r>
                <a:rPr lang="en-IN" b="1" i="1" dirty="0" err="1">
                  <a:solidFill>
                    <a:schemeClr val="bg1"/>
                  </a:solidFill>
                </a:rPr>
                <a:t>Instistute</a:t>
              </a:r>
              <a:r>
                <a:rPr lang="en-IN" b="1" i="1" dirty="0">
                  <a:solidFill>
                    <a:schemeClr val="bg1"/>
                  </a:solidFill>
                </a:rPr>
                <a:t> of Engineering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Freeform 2">
            <a:extLst>
              <a:ext uri="{FF2B5EF4-FFF2-40B4-BE49-F238E27FC236}">
                <a16:creationId xmlns:a16="http://schemas.microsoft.com/office/drawing/2014/main" id="{E76296BA-B25C-240A-41C9-80C10EF93D0C}"/>
              </a:ext>
            </a:extLst>
          </p:cNvPr>
          <p:cNvSpPr/>
          <p:nvPr/>
        </p:nvSpPr>
        <p:spPr>
          <a:xfrm>
            <a:off x="16686472" y="186813"/>
            <a:ext cx="1385812" cy="1385812"/>
          </a:xfrm>
          <a:custGeom>
            <a:avLst/>
            <a:gdLst/>
            <a:ahLst/>
            <a:cxnLst/>
            <a:rect l="l" t="t" r="r" b="b"/>
            <a:pathLst>
              <a:path w="1385812" h="1385812">
                <a:moveTo>
                  <a:pt x="0" y="0"/>
                </a:moveTo>
                <a:lnTo>
                  <a:pt x="1385812" y="0"/>
                </a:lnTo>
                <a:lnTo>
                  <a:pt x="1385812" y="1385813"/>
                </a:lnTo>
                <a:lnTo>
                  <a:pt x="0" y="1385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A4324BD-1E6D-9752-EFDD-4B07E9351B3C}"/>
              </a:ext>
            </a:extLst>
          </p:cNvPr>
          <p:cNvSpPr/>
          <p:nvPr/>
        </p:nvSpPr>
        <p:spPr>
          <a:xfrm>
            <a:off x="342899" y="232019"/>
            <a:ext cx="2286000" cy="647700"/>
          </a:xfrm>
          <a:prstGeom prst="roundRect">
            <a:avLst/>
          </a:prstGeom>
          <a:solidFill>
            <a:srgbClr val="EC1B2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TEAM NAME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703</Words>
  <Application>Microsoft Office PowerPoint</Application>
  <PresentationFormat>Custom</PresentationFormat>
  <Paragraphs>58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HackSAC 2026</dc:title>
  <cp:lastModifiedBy>Kunal Sonawane</cp:lastModifiedBy>
  <cp:revision>3</cp:revision>
  <dcterms:created xsi:type="dcterms:W3CDTF">2006-08-16T00:00:00Z</dcterms:created>
  <dcterms:modified xsi:type="dcterms:W3CDTF">2026-09-30T13:37:08Z</dcterms:modified>
  <dc:identifier>DAHWrCLgTws</dc:identifier>
</cp:coreProperties>
</file>